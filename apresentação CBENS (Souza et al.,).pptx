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63795b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63795b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a12ec9d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a12ec9d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a12ec9d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da12ec9d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0312b6d1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0312b6d1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0312b6d1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0312b6d1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f44ef9b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f44ef9b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0312b6d1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0312b6d1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f44ef9b3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f44ef9b3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a12ec9df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a12ec9df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f44ef9b3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f44ef9b3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2" Type="http://schemas.openxmlformats.org/officeDocument/2006/relationships/image" Target="../media/image17.png"/><Relationship Id="rId9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4100" y="63000"/>
            <a:ext cx="9069900" cy="177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33">
                <a:latin typeface="Times New Roman"/>
                <a:ea typeface="Times New Roman"/>
                <a:cs typeface="Times New Roman"/>
                <a:sym typeface="Times New Roman"/>
              </a:rPr>
              <a:t>INFLUÊNCIA DA RESOLUÇÃO TEMPORAL NA ANÁLISE DE EVENTOS DE SOBREIRRADIÂNCIA NA CIDADE DE SOUSA – PARAÍBA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733101" y="3096875"/>
            <a:ext cx="1445375" cy="20014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6" name="Google Shape;56;p13"/>
          <p:cNvCxnSpPr/>
          <p:nvPr/>
        </p:nvCxnSpPr>
        <p:spPr>
          <a:xfrm flipH="1">
            <a:off x="0" y="5098325"/>
            <a:ext cx="7733100" cy="3600"/>
          </a:xfrm>
          <a:prstGeom prst="straightConnector1">
            <a:avLst/>
          </a:prstGeom>
          <a:noFill/>
          <a:ln cap="flat" cmpd="sng" w="9525">
            <a:solidFill>
              <a:srgbClr val="005BA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1583725" y="2335825"/>
            <a:ext cx="55233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Vitória Régia Silva de Souza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Alan Rodrigues de Sousa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Samira de Azevedo Santos Emiliavaca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Bruno do Nascimento e Silva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João Vitor de Oliveira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Lorena Santos da Silva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473125" y="4463738"/>
            <a:ext cx="17445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NATAL - RN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0" y="0"/>
            <a:ext cx="457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20">
                <a:latin typeface="Times New Roman"/>
                <a:ea typeface="Times New Roman"/>
                <a:cs typeface="Times New Roman"/>
                <a:sym typeface="Times New Roman"/>
              </a:rPr>
              <a:t>INTRODUÇÃO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34775" y="563850"/>
            <a:ext cx="8716500" cy="4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IRRADIÂNCIA: A energia solar que atinge a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superfície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(terrestre ou FV), medida em watts por metro quadrado (W/m²). Importante para caracterizar a intensidade da luz solar e seu potencial energético em FV.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SOBREIRRADIÂNCIA: Fenômeno que acontece com a irradiância solar, na qual o valor da irradiância medida supera o valor da irradiância incidente do topo da atmosfera, em um curto período.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INTENSIDADES DE RADIAÇÃO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Alta intensidade da irradiância pode causar sobrecarga nos inversores, queima de fusíveis e desligamento dos dispositivos de proteção, o que prejudica a operação dos sistemas FV (Martins et al., 2022). (Radiação superiores a 1367 W/m², valor médio da constante solar).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objetivo deste artigo é analisar quantitativamente os eventos de sobreirradiância ocorridos em Sousa, no estado da Paraíba.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797702" y="4062375"/>
            <a:ext cx="2375501" cy="839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66" name="Google Shape;66;p14"/>
          <p:cNvCxnSpPr/>
          <p:nvPr/>
        </p:nvCxnSpPr>
        <p:spPr>
          <a:xfrm rot="10800000">
            <a:off x="-61500" y="4885050"/>
            <a:ext cx="6859200" cy="17100"/>
          </a:xfrm>
          <a:prstGeom prst="straightConnector1">
            <a:avLst/>
          </a:prstGeom>
          <a:noFill/>
          <a:ln cap="flat" cmpd="sng" w="9525">
            <a:solidFill>
              <a:srgbClr val="005BA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12400" y="0"/>
            <a:ext cx="233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20">
                <a:latin typeface="Times New Roman"/>
                <a:ea typeface="Times New Roman"/>
                <a:cs typeface="Times New Roman"/>
                <a:sym typeface="Times New Roman"/>
              </a:rPr>
              <a:t>METODOLOGIA</a:t>
            </a:r>
            <a:endParaRPr sz="1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112400" y="404150"/>
            <a:ext cx="2831400" cy="45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3500" lvl="0" marL="9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desenvolvimento é utilizado os dados da irradiância global horizontal (GHI), adquirida por uma estação solarimétrica pertencente ao Instituto SENAI de Inovação em Energias Renováveis (ISI-ER), instalada na cidade de Sousa no estado da Paraíba.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3025" lvl="0" marL="900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piranômetros do modelo CMP11 da Kipp e Zonen classificados como classe A pela ISO 9060:2018. (Baixa variação anual na sua responsividade (menor que 0,5%).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8200" y="217275"/>
            <a:ext cx="5671975" cy="415244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3358200" y="4369725"/>
            <a:ext cx="56721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1 - Mapa de localização do município de estudo e na qual está instalada a estação solarimétrica. Fonte: Autores.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203075"/>
            <a:ext cx="8520600" cy="4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estação também é equipada com sensores para temperatura, umidade relativa do ar, velocidade do vento e precipitação. Coletando dados a cada segundo e registra valores médios, máximos, mínimos e desvio padrão a cada minuto usando um datalogger CR1000X.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Os dados de Irradiância Global Horizontal (GHI) foram registrados a cada segundo para analisar a diferença entre eventos de sobreirradiância, quando registrados em segundos e em minutos.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 base na equação, proposta por (Costa </a:t>
            </a:r>
            <a:r>
              <a:rPr i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2021) é verificado os 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momentos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 o GHI, supera o valor da irradiância do topo da atmosfera (I</a:t>
            </a:r>
            <a:r>
              <a:rPr i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oh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contabilizando como um evento de sobreirradiância: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</a:t>
            </a:r>
            <a:r>
              <a:rPr i="1"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Ioh = ISC. εo. cosθz</a:t>
            </a:r>
            <a:endParaRPr i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1"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Isc</a:t>
            </a: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Constante solar (1367 W/m²);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i="1"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εo</a:t>
            </a: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excentricidade da órbita da Terra (0,0167);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i="1"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cosθz</a:t>
            </a: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cosseno do ângulo zenital.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201" lvl="0" marL="4500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 estudo só é verificado os eventos de sobreirradiância superiores a 1000 W/m².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201" lvl="0" marL="45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dados obtidos na resolução de minutos quanto na resolução de segundos, foram processados, verificando a existência de lacunas ou duplicidades nas medições. Posteriormente esses dados foram consolidados e submetidos ao controle de qualidade de dados radiométricos existente no ISI-ER. refinamento. Após esse rigoroso controle de validade dos dados, é contabilizado os eventos de sobreirradiância, observando a hora da ocorrência, a intensidade máxima e média da irradiância durante o evento.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28350" y="0"/>
            <a:ext cx="230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20"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128350" y="572700"/>
            <a:ext cx="4095000" cy="40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92075" lvl="0" marL="9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 figura 2 é apresentado os registros dos eventos de sobreirradiância em minutos e segundos. Em minutos, cor vermelha, os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maiores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valores foram registrados em março, abril, agosto e setembro, com agosto apresentando 41 ocorrências. Outubro e novembro tiveram os menores registros de eventos.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2075" lvl="0" marL="9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os dados de segundos, cor azul, é observado um aumento de eventos. Isso se deve, por muitos eventos durarem menos que um minuto, não sendo capturados na escala de minutos.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2075" lvl="0" marL="9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mês de agosto destacou 768 ocorrências em segundos, um aumento de 1870% em relação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às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ocorrências de minutos.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350" y="572700"/>
            <a:ext cx="4592951" cy="181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4223350" y="2633300"/>
            <a:ext cx="4537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2 - Comparação entre o número da ocorrência de eventos de sobreirradiância quando o registro é feito em minutos comparados aos registrados em segundos. Fonte: Autores.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797702" y="4062375"/>
            <a:ext cx="2375501" cy="839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6999"/>
              </a:srgbClr>
            </a:outerShdw>
          </a:effectLst>
        </p:spPr>
      </p:pic>
      <p:cxnSp>
        <p:nvCxnSpPr>
          <p:cNvPr id="89" name="Google Shape;89;p17"/>
          <p:cNvCxnSpPr/>
          <p:nvPr/>
        </p:nvCxnSpPr>
        <p:spPr>
          <a:xfrm rot="10800000">
            <a:off x="-61500" y="4885050"/>
            <a:ext cx="6859200" cy="17100"/>
          </a:xfrm>
          <a:prstGeom prst="straightConnector1">
            <a:avLst/>
          </a:prstGeom>
          <a:noFill/>
          <a:ln cap="flat" cmpd="sng" w="9525">
            <a:solidFill>
              <a:srgbClr val="005BA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54225" y="45200"/>
            <a:ext cx="173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050" y="874975"/>
            <a:ext cx="5426949" cy="122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218750" y="874975"/>
            <a:ext cx="3389700" cy="23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9207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ocorrências de “eventos” é a irradiância superior a irradiância terrestre, mas inferior a constante solar </a:t>
            </a:r>
            <a:r>
              <a:rPr lang="pt-BR" sz="13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(1367 W/m²),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“eventos extremos” são os eventos que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ultrapassam a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constante solar.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207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inverno apresenta a maior quantidade de eventos de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sobreirradiância</a:t>
            </a:r>
            <a:r>
              <a:rPr lang="pt-BR" sz="13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(total de eventos), contudo, os eventos são de baixa intensidade.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207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 verão e outono, apresentaram os eventos com maiores intensidades.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3852675" y="2137950"/>
            <a:ext cx="4944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Tabela 1 - Distribuição dos eventos de sobreirradiância conforme a estação do ano e intensidade. Fonte: Autores.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797702" y="4062375"/>
            <a:ext cx="2375501" cy="839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6999"/>
              </a:srgbClr>
            </a:outerShdw>
          </a:effectLst>
        </p:spPr>
      </p:pic>
      <p:cxnSp>
        <p:nvCxnSpPr>
          <p:cNvPr id="99" name="Google Shape;99;p18"/>
          <p:cNvCxnSpPr/>
          <p:nvPr/>
        </p:nvCxnSpPr>
        <p:spPr>
          <a:xfrm rot="10800000">
            <a:off x="-61500" y="4885050"/>
            <a:ext cx="6859200" cy="17100"/>
          </a:xfrm>
          <a:prstGeom prst="straightConnector1">
            <a:avLst/>
          </a:prstGeom>
          <a:noFill/>
          <a:ln cap="flat" cmpd="sng" w="9525">
            <a:solidFill>
              <a:srgbClr val="005BA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9575" y="18475"/>
            <a:ext cx="17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4455"/>
              <a:buFont typeface="Arial"/>
              <a:buNone/>
            </a:pPr>
            <a:r>
              <a:rPr lang="pt-BR" sz="2020"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227800" y="591175"/>
            <a:ext cx="3236400" cy="42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9842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Tab. 2, é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possível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verificar que as maiores intensidades de irradiância, em minutos, ocorreram as maiores 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intensidades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1526, 1500 e 1521 W/m². Suas menores intensidades em minutos, foram de 1255, 1266 e 1259 W/m².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842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 segundos, as maiores intensidades de irradiância nos meses de novembro, janeiro e fevereiro. Para as medidas de menores intensidades em segundo foram dos meses de maio, junho e agosto.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4075" y="967225"/>
            <a:ext cx="5679925" cy="11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3631338" y="2196625"/>
            <a:ext cx="53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Times New Roman"/>
                <a:ea typeface="Times New Roman"/>
                <a:cs typeface="Times New Roman"/>
                <a:sym typeface="Times New Roman"/>
              </a:rPr>
              <a:t>Tabela 2 – Maiores intensidades dos eventos de sobreirradiância nas diferentes resoluções temporais e percentual de diferença entre as resoluções registrado em cada mês. Fonte: Autores.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797702" y="4062375"/>
            <a:ext cx="2375501" cy="839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6999"/>
              </a:srgbClr>
            </a:outerShdw>
          </a:effectLst>
        </p:spPr>
      </p:pic>
      <p:cxnSp>
        <p:nvCxnSpPr>
          <p:cNvPr id="109" name="Google Shape;109;p19"/>
          <p:cNvCxnSpPr/>
          <p:nvPr/>
        </p:nvCxnSpPr>
        <p:spPr>
          <a:xfrm rot="10800000">
            <a:off x="-61500" y="4885050"/>
            <a:ext cx="6859200" cy="17100"/>
          </a:xfrm>
          <a:prstGeom prst="straightConnector1">
            <a:avLst/>
          </a:prstGeom>
          <a:noFill/>
          <a:ln cap="flat" cmpd="sng" w="9525">
            <a:solidFill>
              <a:srgbClr val="005BA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54250" y="0"/>
            <a:ext cx="180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4455"/>
              <a:buFont typeface="Arial"/>
              <a:buNone/>
            </a:pPr>
            <a:r>
              <a:rPr lang="pt-BR" sz="2020"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663" y="509825"/>
            <a:ext cx="4983125" cy="190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146450" y="509825"/>
            <a:ext cx="3471300" cy="43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9207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a Fig. 3(a) é registrado na resolução de segundos o maior evento de sobreirradiância e o instante de maior evento registrado é mostrado na Fig. 3(b).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207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perfil de irradiância é observado em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vários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períodos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dia a intensidade da irradiância supera a estimada para o dia de céu claro, porém, somente em alguns instantes a irradiância medida na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superfície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supera a do topo da atmosfera (</a:t>
            </a:r>
            <a:r>
              <a:rPr i="1"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Ioh 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207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momento registrado, aconteceu às 12:04:38s do dia 5 de novembro de 2022, do qual a irradiância atingiu a marca de 1654 W/m².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207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Fig. 4(a) é apresentado o registro da irradiância no dia 16 de abril de 2022. Na Fig. 4(b) destacado, em vermelho, o instante da ocorrência do evento de maior duração, sendo de 9:36:31s até às 9:41:57s com duração total de 326 segundos, seu valor máximo atingiu 1177 W/m², com uma média de 1153 W/m².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150" y="2747550"/>
            <a:ext cx="5071500" cy="19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968463" y="2395950"/>
            <a:ext cx="50715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3 - (a) Perfil da radiação solar do dia com o maior evento registrado e (b) instante do maior evento registrado. Fonte: Autores.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968475" y="4579475"/>
            <a:ext cx="50715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4 - (a) Perfil da radiação solar do dia com o evento de maior duração e (b) instante do evento de maior duração. Fonte: Autores. 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85700" y="101525"/>
            <a:ext cx="17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4455"/>
              <a:buFont typeface="Arial"/>
              <a:buNone/>
            </a:pPr>
            <a:r>
              <a:rPr lang="pt-BR" sz="2020"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674225"/>
            <a:ext cx="31341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9842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Fig. 5 é apresentado o perfil do maior tempo de duração de eventos de sobreirradiância em cada mês. Destacando o mês de abril, que tal evento teve sua duração de 326s, sendo que o mês anterior registrou uma duração de 259s e o mês seguinte foi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registrado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um evento de 234s,</a:t>
            </a:r>
            <a:r>
              <a:rPr lang="pt-BR" sz="1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possuindo uma diferença percentual de 32,25% entre a média dos valores, menores valores e o maior valor. </a:t>
            </a:r>
            <a:endParaRPr sz="1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5725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pt-BR" sz="1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 o de menor duração com 85s, o mês de outubro.</a:t>
            </a:r>
            <a:endParaRPr sz="1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8600" y="1152475"/>
            <a:ext cx="5218774" cy="15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4103975" y="2738975"/>
            <a:ext cx="497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Times New Roman"/>
                <a:ea typeface="Times New Roman"/>
                <a:cs typeface="Times New Roman"/>
                <a:sym typeface="Times New Roman"/>
              </a:rPr>
              <a:t>Figura 5 - Representação do maior tempo de duração de eventos de sobreirradiância registrado a cada mês. Fonte: Autores.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" name="Google Shape;128;p21"/>
          <p:cNvCxnSpPr/>
          <p:nvPr/>
        </p:nvCxnSpPr>
        <p:spPr>
          <a:xfrm rot="10800000">
            <a:off x="-61500" y="4885050"/>
            <a:ext cx="6859200" cy="17100"/>
          </a:xfrm>
          <a:prstGeom prst="straightConnector1">
            <a:avLst/>
          </a:prstGeom>
          <a:noFill/>
          <a:ln cap="flat" cmpd="sng" w="9525">
            <a:solidFill>
              <a:srgbClr val="005BA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9" name="Google Shape;129;p21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797702" y="4062375"/>
            <a:ext cx="2375501" cy="839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6999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11700" y="654475"/>
            <a:ext cx="8520600" cy="43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79375" lvl="0" marL="9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pt-BR"/>
              <a:t>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Diante dos resultados apresentados, concluiu-se que os meses de março, abril e agosto apresentam a maior quantidade de eventos de sobreirradiância na resolução de minutos, já para a resolução em segundos os meses de  abril, junho e agosto apresentaram as maiores quantidades de ocorrências, com o mês de agosto registrando 768 eventos de sobreirradiância superiores a 1000 W/m².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9375" lvl="0" marL="9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análise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intensidade dos eventos, do qual a resolução em segundos foi registrado o valor de 1654 W/m² e de 1521 W/m² em minutos, sendo no dia 5 de novembro de 2022,o valor de segundo o maior registro durante o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período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 pesquisa na estação. Já o valor em minutos ocorreu no dia 28 de janeiro de 2022, registrou o maior valor do evento em minutos. Adicionalmente, no dia 16 de abril de 2022, o evento com maior duração, possuindo um tempo de 326 segundos.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9375" lvl="0" marL="9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Concluiu-se também que a resolução temporal em segundos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apresentou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eventos mais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intensos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frequentes que a resolução em minutos. Esse fato mostra a importância de realizar as medições em alta taxa de aquisição, evitando que as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variações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intensidade da irradiância sejam suavizadas devido a medição com baixa taxa de amostragem ou armazenando o valor médio de um longo período.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110275" y="112075"/>
            <a:ext cx="2196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CONCLUSÃO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94750" y="390775"/>
            <a:ext cx="34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>
                <a:latin typeface="Times New Roman"/>
                <a:ea typeface="Times New Roman"/>
                <a:cs typeface="Times New Roman"/>
                <a:sym typeface="Times New Roman"/>
              </a:rPr>
              <a:t>AGRADECIMENTOS: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854400" y="4266050"/>
            <a:ext cx="1435200" cy="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OBRIGADA!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25" y="1481525"/>
            <a:ext cx="1851575" cy="46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112" y="1529400"/>
            <a:ext cx="1476075" cy="3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7900" y="1529413"/>
            <a:ext cx="1155936" cy="3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7675" y="1529400"/>
            <a:ext cx="960932" cy="3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05364" y="1561550"/>
            <a:ext cx="1008450" cy="301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2500" y="2227772"/>
            <a:ext cx="1312875" cy="39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3212" y="2244399"/>
            <a:ext cx="1521188" cy="3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6797702" y="4062375"/>
            <a:ext cx="2375501" cy="839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6999"/>
              </a:srgbClr>
            </a:outerShdw>
          </a:effectLst>
        </p:spPr>
      </p:pic>
      <p:cxnSp>
        <p:nvCxnSpPr>
          <p:cNvPr id="150" name="Google Shape;150;p23"/>
          <p:cNvCxnSpPr/>
          <p:nvPr/>
        </p:nvCxnSpPr>
        <p:spPr>
          <a:xfrm rot="10800000">
            <a:off x="-61500" y="4885050"/>
            <a:ext cx="6859200" cy="17100"/>
          </a:xfrm>
          <a:prstGeom prst="straightConnector1">
            <a:avLst/>
          </a:prstGeom>
          <a:noFill/>
          <a:ln cap="flat" cmpd="sng" w="9525">
            <a:solidFill>
              <a:srgbClr val="005BA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53487" y="1988275"/>
            <a:ext cx="1056438" cy="6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81700" y="2086112"/>
            <a:ext cx="913325" cy="6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