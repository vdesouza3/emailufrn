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Archivo Black"/>
      <p:regular r:id="rId14"/>
    </p:embeddedFont>
    <p:embeddedFont>
      <p:font typeface="Archiv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rchivo-regular.fntdata"/><Relationship Id="rId14" Type="http://schemas.openxmlformats.org/officeDocument/2006/relationships/font" Target="fonts/ArchivoBlack-regular.fntdata"/><Relationship Id="rId17" Type="http://schemas.openxmlformats.org/officeDocument/2006/relationships/font" Target="fonts/Archivo-italic.fntdata"/><Relationship Id="rId16" Type="http://schemas.openxmlformats.org/officeDocument/2006/relationships/font" Target="fonts/Archiv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Archiv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80032276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80032276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800322763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800322763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800322763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800322763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164194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37836" y="2613544"/>
            <a:ext cx="5487814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400">
                <a:solidFill>
                  <a:srgbClr val="0095D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100">
                <a:solidFill>
                  <a:srgbClr val="0095DB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100">
                <a:solidFill>
                  <a:srgbClr val="0095DB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100">
                <a:solidFill>
                  <a:srgbClr val="0095DB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100">
                <a:solidFill>
                  <a:srgbClr val="0095DB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100">
                <a:solidFill>
                  <a:srgbClr val="0095DB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100">
                <a:solidFill>
                  <a:srgbClr val="0095DB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100">
                <a:solidFill>
                  <a:srgbClr val="0095DB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100">
                <a:solidFill>
                  <a:srgbClr val="0095DB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137886" y="1980919"/>
            <a:ext cx="5487814" cy="66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chivo"/>
              <a:buNone/>
              <a:defRPr b="1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137786" y="3467494"/>
            <a:ext cx="5487814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" name="Google Shape;14;p2"/>
          <p:cNvSpPr/>
          <p:nvPr/>
        </p:nvSpPr>
        <p:spPr>
          <a:xfrm>
            <a:off x="4454820" y="2417862"/>
            <a:ext cx="2343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2686725" y="1932400"/>
            <a:ext cx="246600" cy="745200"/>
          </a:xfrm>
          <a:prstGeom prst="parallelogram">
            <a:avLst>
              <a:gd fmla="val 41392" name="adj"/>
            </a:avLst>
          </a:prstGeom>
          <a:solidFill>
            <a:srgbClr val="00A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6400" y="2025550"/>
            <a:ext cx="1339145" cy="5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A0E3"/>
              </a:buClr>
              <a:buSzPts val="2000"/>
              <a:buChar char="●"/>
              <a:defRPr>
                <a:solidFill>
                  <a:srgbClr val="01397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13979"/>
              </a:buClr>
              <a:buSzPts val="1400"/>
              <a:buChar char="○"/>
              <a:defRPr>
                <a:solidFill>
                  <a:srgbClr val="013979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A0E3"/>
              </a:buClr>
              <a:buSzPts val="1400"/>
              <a:buChar char="■"/>
              <a:defRPr>
                <a:solidFill>
                  <a:srgbClr val="013979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A0E3"/>
              </a:buClr>
              <a:buSzPts val="1400"/>
              <a:buChar char="●"/>
              <a:defRPr>
                <a:solidFill>
                  <a:srgbClr val="013979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13979"/>
              </a:buClr>
              <a:buSzPts val="1400"/>
              <a:buChar char="○"/>
              <a:defRPr>
                <a:solidFill>
                  <a:srgbClr val="013979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A0E3"/>
              </a:buClr>
              <a:buSzPts val="1400"/>
              <a:buChar char="■"/>
              <a:defRPr>
                <a:solidFill>
                  <a:srgbClr val="013979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A0E3"/>
              </a:buClr>
              <a:buSzPts val="1400"/>
              <a:buChar char="●"/>
              <a:defRPr>
                <a:solidFill>
                  <a:srgbClr val="013979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13979"/>
              </a:buClr>
              <a:buSzPts val="1400"/>
              <a:buChar char="○"/>
              <a:defRPr>
                <a:solidFill>
                  <a:srgbClr val="013979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A0E3"/>
              </a:buClr>
              <a:buSzPts val="1400"/>
              <a:buChar char="■"/>
              <a:defRPr>
                <a:solidFill>
                  <a:srgbClr val="013979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24" name="Google Shape;24;p3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31" name="Google Shape;31;p4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40" name="Google Shape;40;p5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47" name="Google Shape;47;p6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1" name="Google Shape;51;p7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54" name="Google Shape;54;p7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9" name="Google Shape;59;p8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62" name="Google Shape;62;p8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1" sz="42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" name="Google Shape;66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9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72" name="Google Shape;72;p9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0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0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79" name="Google Shape;79;p10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4" name="Google Shape;84;p11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1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87" name="Google Shape;87;p11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11377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52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" name="Google Shape;92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97" name="Google Shape;97;p13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772"/>
              </a:buClr>
              <a:buSzPts val="2000"/>
              <a:buFont typeface="Archivo"/>
              <a:buChar char="●"/>
              <a:defRPr b="0" i="0" sz="20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13772"/>
              </a:buClr>
              <a:buSzPts val="1400"/>
              <a:buFont typeface="Archivo"/>
              <a:buChar char="○"/>
              <a:defRPr b="0" i="0" sz="14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13772"/>
              </a:buClr>
              <a:buSzPts val="1400"/>
              <a:buFont typeface="Archivo"/>
              <a:buChar char="■"/>
              <a:defRPr b="0" i="0" sz="14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13772"/>
              </a:buClr>
              <a:buSzPts val="1400"/>
              <a:buFont typeface="Archivo"/>
              <a:buChar char="●"/>
              <a:defRPr b="0" i="0" sz="14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13772"/>
              </a:buClr>
              <a:buSzPts val="1400"/>
              <a:buFont typeface="Archivo"/>
              <a:buChar char="○"/>
              <a:defRPr b="0" i="0" sz="14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13772"/>
              </a:buClr>
              <a:buSzPts val="1400"/>
              <a:buFont typeface="Archivo"/>
              <a:buChar char="■"/>
              <a:defRPr b="0" i="0" sz="14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13772"/>
              </a:buClr>
              <a:buSzPts val="1400"/>
              <a:buFont typeface="Archivo"/>
              <a:buChar char="●"/>
              <a:defRPr b="0" i="0" sz="14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13772"/>
              </a:buClr>
              <a:buSzPts val="1400"/>
              <a:buFont typeface="Archivo"/>
              <a:buChar char="○"/>
              <a:defRPr b="0" i="0" sz="14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13772"/>
              </a:buClr>
              <a:buSzPts val="1400"/>
              <a:buFont typeface="Archivo"/>
              <a:buChar char="■"/>
              <a:defRPr b="0" i="0" sz="14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487500" y="1678650"/>
            <a:ext cx="81690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69999" marR="334049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D9D9D9"/>
                </a:solidFill>
                <a:latin typeface="Times"/>
                <a:ea typeface="Times"/>
                <a:cs typeface="Times"/>
                <a:sym typeface="Times"/>
              </a:rPr>
              <a:t>ANÁLISE DO POTENCIAL DE INTENSIDADE E DIREÇÃO DO VENTO OFFSHORE GLOBAIS UTILIZANDO DADOS DE REANÁLISE</a:t>
            </a:r>
            <a:endParaRPr b="1" sz="2400">
              <a:solidFill>
                <a:srgbClr val="D9D9D9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269999" marR="334049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D9D9D9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33404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D9D9D9"/>
                </a:solidFill>
                <a:latin typeface="Times"/>
                <a:ea typeface="Times"/>
                <a:cs typeface="Times"/>
                <a:sym typeface="Times"/>
              </a:rPr>
              <a:t>Discente: Vitória Régia Silva de Souza</a:t>
            </a:r>
            <a:endParaRPr b="1" sz="1800">
              <a:solidFill>
                <a:srgbClr val="D9D9D9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33404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D9D9D9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269999" marR="334049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D9D9D9"/>
                </a:solidFill>
                <a:latin typeface="Times"/>
                <a:ea typeface="Times"/>
                <a:cs typeface="Times"/>
                <a:sym typeface="Times"/>
              </a:rPr>
              <a:t>NATAL</a:t>
            </a:r>
            <a:endParaRPr b="1" sz="1800">
              <a:solidFill>
                <a:srgbClr val="D9D9D9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269999" marR="334049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800">
                <a:solidFill>
                  <a:srgbClr val="D9D9D9"/>
                </a:solidFill>
                <a:latin typeface="Times"/>
                <a:ea typeface="Times"/>
                <a:cs typeface="Times"/>
                <a:sym typeface="Times"/>
              </a:rPr>
              <a:t>2025</a:t>
            </a:r>
            <a:endParaRPr b="1" sz="1800">
              <a:solidFill>
                <a:srgbClr val="D9D9D9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1377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3543200" y="870975"/>
            <a:ext cx="172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INPE - Instituto Nacional de Pesquisas Espaciais</a:t>
            </a:r>
            <a:endParaRPr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8575" y="64225"/>
            <a:ext cx="1006848" cy="806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825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INTRODUÇ</a:t>
            </a:r>
            <a:r>
              <a:rPr lang="pt-BR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ÃO</a:t>
            </a:r>
            <a:endParaRPr sz="2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426300" y="1182725"/>
            <a:ext cx="8291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"/>
              <a:buChar char="●"/>
            </a:pP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 crescimento de energia 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eólica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i="1"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onshore 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 </a:t>
            </a:r>
            <a:r>
              <a:rPr i="1"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offshore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em cenário global para o ano de 2024 foi de    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117 GW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(GWEC, 2024);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"/>
              <a:buChar char="●"/>
            </a:pP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Em foco ao </a:t>
            </a:r>
            <a:r>
              <a:rPr i="1"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offshore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sua capacidade de 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instalação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ao mundo é de 75 GW, atualmente;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"/>
              <a:buChar char="-"/>
            </a:pP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Contudo, em muitos casos há a problemática da escassez de medições </a:t>
            </a:r>
            <a:r>
              <a:rPr i="1"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 situ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por exemplo em áreas remotas;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Char char="❖"/>
            </a:pP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Deste modo, a justificativa do presente plano de mestrado é a necessidade de caracterização precisa dos ventos 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marítimos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globais para a avaliação 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confiável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do potencial eólico;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160400" y="308000"/>
            <a:ext cx="2869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OBJETIVOS</a:t>
            </a:r>
            <a:endParaRPr sz="2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437250" y="1026025"/>
            <a:ext cx="8269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latin typeface="Times"/>
                <a:ea typeface="Times"/>
                <a:cs typeface="Times"/>
                <a:sym typeface="Times"/>
              </a:rPr>
              <a:t>Geral</a:t>
            </a:r>
            <a:r>
              <a:rPr lang="pt-BR" sz="1500">
                <a:latin typeface="Times"/>
                <a:ea typeface="Times"/>
                <a:cs typeface="Times"/>
                <a:sym typeface="Times"/>
              </a:rPr>
              <a:t>: </a:t>
            </a:r>
            <a:r>
              <a:rPr lang="pt-BR" sz="1500">
                <a:latin typeface="Times"/>
                <a:ea typeface="Times"/>
                <a:cs typeface="Times"/>
                <a:sym typeface="Times"/>
              </a:rPr>
              <a:t> Identificar regiões com maior aptidão para o aproveitamento energético e compreender a variabilidade espacial e temporal desses ventos.</a:t>
            </a:r>
            <a:endParaRPr sz="15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latin typeface="Times"/>
                <a:ea typeface="Times"/>
                <a:cs typeface="Times"/>
                <a:sym typeface="Times"/>
              </a:rPr>
              <a:t>Específicos</a:t>
            </a:r>
            <a:r>
              <a:rPr lang="pt-BR" sz="1500">
                <a:latin typeface="Times"/>
                <a:ea typeface="Times"/>
                <a:cs typeface="Times"/>
                <a:sym typeface="Times"/>
              </a:rPr>
              <a:t>: </a:t>
            </a:r>
            <a:endParaRPr sz="15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Times"/>
                <a:ea typeface="Times"/>
                <a:cs typeface="Times"/>
                <a:sym typeface="Times"/>
              </a:rPr>
              <a:t>1) caracterizar os padrões das componentes zonal (u) e meridional (v) em múltiplos níveis verticais e escalas temporais;</a:t>
            </a:r>
            <a:endParaRPr sz="15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Times"/>
                <a:ea typeface="Times"/>
                <a:cs typeface="Times"/>
                <a:sym typeface="Times"/>
              </a:rPr>
              <a:t>2) analisar a variabilidade espaço-temporal dos ventos e suas implicações para o aproveitamento energético em diferentes alturas; </a:t>
            </a:r>
            <a:endParaRPr sz="15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Times"/>
                <a:ea typeface="Times"/>
                <a:cs typeface="Times"/>
                <a:sym typeface="Times"/>
              </a:rPr>
              <a:t>3) comparar áreas já apontadas como potenciais para instalação de parques eólicos offshore com os resultados obtidos, identificando convergências e divergências; </a:t>
            </a:r>
            <a:endParaRPr sz="15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Times"/>
                <a:ea typeface="Times"/>
                <a:cs typeface="Times"/>
                <a:sym typeface="Times"/>
              </a:rPr>
              <a:t>4) construir um banco de dados integrado contendo velocidade e direção em múltiplos níveis verticais, estruturado para aplicações em energia eólica.</a:t>
            </a:r>
            <a:endParaRPr sz="15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91650" y="376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MATERIAIS E MÉTODOS</a:t>
            </a:r>
            <a:endParaRPr sz="2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19983" r="19881" t="0"/>
          <a:stretch/>
        </p:blipFill>
        <p:spPr>
          <a:xfrm>
            <a:off x="7356113" y="1086500"/>
            <a:ext cx="1664075" cy="197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237825" y="1086500"/>
            <a:ext cx="6615000" cy="3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"/>
              <a:buChar char="●"/>
            </a:pPr>
            <a:r>
              <a:rPr b="1"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Área de estudo: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Todas as regiões oceânicas do globo (Imagem 1);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"/>
              <a:buChar char="●"/>
            </a:pPr>
            <a:r>
              <a:rPr b="1"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Fonte: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ERA5 (Reanálise do ECMWF);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Dos quais o ERA5 possui as vantagens de uma série temporal 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contínua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(1979-2024), e resolução de 0,25°.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"/>
              <a:buChar char="●"/>
            </a:pPr>
            <a:r>
              <a:rPr b="1"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Variáveis: 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Componentes u e v do vento em 10m e 100m (ERA5 hourly data on single levels from 1940 to present);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"/>
              <a:buChar char="●"/>
            </a:pPr>
            <a:r>
              <a:rPr b="1"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Resolução Temporal: 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Subdiária (00:00 e 12:00 UTC).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7356125" y="476925"/>
            <a:ext cx="1664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Imagem 1 - Demonstração sobre a área de estudo.</a:t>
            </a:r>
            <a:endParaRPr sz="1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7457975" y="3061975"/>
            <a:ext cx="1617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pt-BR" sz="1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pt-BR" sz="1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Fonte:Copernicus Climate Change Service (2019)</a:t>
            </a:r>
            <a:endParaRPr sz="1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6" name="Google Shape;126;p17"/>
          <p:cNvCxnSpPr/>
          <p:nvPr/>
        </p:nvCxnSpPr>
        <p:spPr>
          <a:xfrm flipH="1" rot="10800000">
            <a:off x="306575" y="4892225"/>
            <a:ext cx="5666100" cy="1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7"/>
          <p:cNvSpPr txBox="1"/>
          <p:nvPr/>
        </p:nvSpPr>
        <p:spPr>
          <a:xfrm>
            <a:off x="306575" y="4821575"/>
            <a:ext cx="57762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pt-BR" sz="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pt-BR" sz="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Disponível: https://cds.climate.copernicus.eu/datasets/satellite-ocean-colour?tab=overview</a:t>
            </a:r>
            <a:endParaRPr sz="9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91675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MATERIAIS E MÉTODOS</a:t>
            </a:r>
            <a:endParaRPr sz="2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251575" y="1493425"/>
            <a:ext cx="8360700" cy="3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"/>
              <a:buChar char="●"/>
            </a:pPr>
            <a:r>
              <a:rPr b="1"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Pré-processamento: 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Uso do software CDO</a:t>
            </a:r>
            <a:r>
              <a:rPr b="1"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para filtragem, agregação e geração de séries mensais;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"/>
              <a:buChar char="●"/>
            </a:pPr>
            <a:r>
              <a:rPr b="1"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Análise: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Linguagem R e Python;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"/>
              <a:buChar char="●"/>
            </a:pPr>
            <a:r>
              <a:rPr b="1"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Estatística: 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Cálculo de médias mensais 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climatológicas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Teste não-paramétrico Kruskal-Wallis, comparação regional, para comparar distribuições entre regiões e períodos (Corder, 2011);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"/>
              <a:buChar char="●"/>
            </a:pPr>
            <a:r>
              <a:rPr b="1"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Lei </a:t>
            </a:r>
            <a:r>
              <a:rPr b="1"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Logarítmica</a:t>
            </a:r>
            <a:r>
              <a:rPr b="1"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Adaptada:</a:t>
            </a: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Extrapolar a velocidade do vento das alturas ERA5 (10m e 100m) para alturas destinadas as turbinas (120m a 220m), para a ideia do termo corretivo, variação real observada com as duas alturas obtidas;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"/>
              <a:buChar char="●"/>
            </a:pPr>
            <a:r>
              <a:t/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187925" y="45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RESULTADOS</a:t>
            </a:r>
            <a:endParaRPr sz="2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430350" y="1218375"/>
            <a:ext cx="8169000" cy="3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"/>
              <a:buChar char="●"/>
            </a:pP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Gerar um banco de dados climatológico global com médias mensais da intensidade e direção do vento em múltiplos níveis verticais;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"/>
              <a:buChar char="●"/>
            </a:pP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Identificar regiões com maior aptidão para aproveitamento energético offshore;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"/>
              <a:buChar char="●"/>
            </a:pP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Os produtos deste estudo visam subsidiar o planejamento técnico e estratégico de empreendimentos eólicos marinhos;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"/>
              <a:buChar char="●"/>
            </a:pP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Contribuir para o aprimoramento de metodologias de mapeamento de recursos.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REFERÊNCIAS</a:t>
            </a:r>
            <a:endParaRPr sz="2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402850" y="1190875"/>
            <a:ext cx="8224200" cy="35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ARCHER, Cristina L.; JACOBSON, Mark Z. Spatial and temporal distributions of US winds and wind power at 80 m derived from measurements. Journal of Geophysical Research: Atmospheres, v. 108, n. D9, 2003.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ATHANASATOS, S.; MICHAELIDES, S.; PAPADAKIS, M. Identification of weather trends for use as a component of risk management for port operations. Natural Hazards, v. 72, n. 1, p. 41–61, 2014.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AYDOĞAN, Burak. Offshore wind power atlas of the Black Sea Region. Journal of Renewable and Sustainable Energy, v. 9, n. 1, 2017.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BALMASEDA, M. A.; MOGENSEN, K. Evaluation of ERA-Interim forcing fluxes from an ocean perspective. ERA Report Series, n. 6, ECMWF: Reading, UK, 2010.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BALMASEDA, Magdalena Alonso; MOGENSEN, Kristian; WEAVER, Anthony T. Evaluation of the ECMWF ocean reanalysis system ORAS4. Quarterly Journal of the Royal Meteorological Society, v. 139, n. 674, p. 1132–1161, 2013.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ÇARPAR, T.; AYAT, B.; AYDOĞAN, B. Variações espaço-sazonais nas tendências de longo prazo das velocidades dos ventos offshore sobre o Mar Negro: uma intercomparação de dois dados de reanálise. Applied Geophysics, v. 177, p. 3013–3037, 2020. DOI: 10.1007/s00024-019-02361-7.</a:t>
            </a:r>
            <a:endParaRPr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1377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3577500" y="2285400"/>
            <a:ext cx="198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OBRIGADA</a:t>
            </a:r>
            <a:endParaRPr sz="2600" u="sng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