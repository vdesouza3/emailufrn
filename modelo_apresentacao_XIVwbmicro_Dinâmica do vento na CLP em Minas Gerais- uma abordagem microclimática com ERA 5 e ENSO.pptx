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effc391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8effc391f5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19dc047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19dc047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effc391f5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effc391f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78720" y="5252720"/>
            <a:ext cx="2113280" cy="1605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20511" y="2234153"/>
            <a:ext cx="11538409" cy="2144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0" i="0" sz="6000" cap="small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20511" y="4515438"/>
            <a:ext cx="11538409" cy="1046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Texto&#10;&#10;O conteúdo gerado por IA pode estar incorreto.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32080" y="0"/>
            <a:ext cx="12395200" cy="2035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85" y="5906396"/>
            <a:ext cx="12192000" cy="951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mpo">
  <p:cSld name="Limp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/>
        </p:nvSpPr>
        <p:spPr>
          <a:xfrm>
            <a:off x="187748" y="1164045"/>
            <a:ext cx="11897413" cy="5557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>
  <p:cSld name="Final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10078720" y="5252720"/>
            <a:ext cx="2113280" cy="1605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2523617"/>
            <a:ext cx="12192000" cy="1371601"/>
          </a:xfrm>
          <a:prstGeom prst="rect">
            <a:avLst/>
          </a:prstGeom>
          <a:solidFill>
            <a:srgbClr val="3B376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47292" y="2829906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laca azul com letras brancas em fundo preto&#10;&#10;O conteúdo gerado por IA pode estar incorreto.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16392" y="744095"/>
            <a:ext cx="9159214" cy="128694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20511" y="4242603"/>
            <a:ext cx="11538409" cy="13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85" y="5906396"/>
            <a:ext cx="12192000" cy="951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2000" cy="1027522"/>
          </a:xfrm>
          <a:prstGeom prst="rect">
            <a:avLst/>
          </a:prstGeom>
          <a:solidFill>
            <a:srgbClr val="3B3763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505908" y="5697824"/>
            <a:ext cx="1579254" cy="10197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320500" y="879900"/>
            <a:ext cx="11538300" cy="423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233"/>
              <a:t>Dinâmica do vento na CLP em Minas Gerais: uma abordagem microclimática com</a:t>
            </a:r>
            <a:endParaRPr sz="423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233"/>
              <a:t>ERA 5 e ENSO</a:t>
            </a:r>
            <a:endParaRPr sz="4233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320500" y="4276550"/>
            <a:ext cx="115383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pt-BR" sz="1700">
                <a:solidFill>
                  <a:srgbClr val="000000"/>
                </a:solidFill>
              </a:rPr>
              <a:t>Vitória Régia Silva de Souza</a:t>
            </a:r>
            <a:r>
              <a:rPr lang="pt-BR" sz="1700">
                <a:solidFill>
                  <a:srgbClr val="000000"/>
                </a:solidFill>
              </a:rPr>
              <a:t>¹, </a:t>
            </a:r>
            <a:r>
              <a:rPr lang="pt-BR" sz="1700">
                <a:solidFill>
                  <a:srgbClr val="000000"/>
                </a:solidFill>
              </a:rPr>
              <a:t>Claudio Moises Santos e Silva</a:t>
            </a:r>
            <a:r>
              <a:rPr lang="pt-BR" sz="1700">
                <a:solidFill>
                  <a:srgbClr val="000000"/>
                </a:solidFill>
              </a:rPr>
              <a:t>², 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pt-BR" sz="1700">
                <a:solidFill>
                  <a:srgbClr val="000000"/>
                </a:solidFill>
              </a:rPr>
              <a:t>Filipe Vieira Santos de Abreu³,  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pt-BR" sz="1700">
                <a:solidFill>
                  <a:srgbClr val="000000"/>
                </a:solidFill>
              </a:rPr>
              <a:t>Albert Smith Feitosa Suassuna Martins⁴, Iara Bezerra da Silva⁵ 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pt-BR" sz="1600">
                <a:solidFill>
                  <a:srgbClr val="000000"/>
                </a:solidFill>
              </a:rPr>
              <a:t>Universidade Federal do Rio Grande do Norte, Departamento de Ciências Atmosféricas e Climáticas, Natal, RN, Brasil</a:t>
            </a:r>
            <a:r>
              <a:rPr baseline="30000" lang="pt-BR" sz="1800">
                <a:solidFill>
                  <a:srgbClr val="000000"/>
                </a:solidFill>
              </a:rPr>
              <a:t>1245</a:t>
            </a:r>
            <a:endParaRPr baseline="30000" sz="1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pt-BR" sz="1600">
                <a:solidFill>
                  <a:srgbClr val="000000"/>
                </a:solidFill>
              </a:rPr>
              <a:t>Instituto Federal do Norte de Minas Gerais, Salinas, MG, Brasil³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1. INTRODUÇÃO</a:t>
            </a:r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100275" y="1235725"/>
            <a:ext cx="11775600" cy="54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269999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   </a:t>
            </a:r>
            <a:r>
              <a:rPr lang="pt-BR" sz="1500"/>
              <a:t>As vari</a:t>
            </a:r>
            <a:r>
              <a:rPr lang="pt-BR" sz="1500"/>
              <a:t>áveis atmosféricas que desempenham a dinâmica de circulação do vento, executam um papel importante na Camada Limite Atmosférica (CLA). Os movimentos que se destacam a qual são influenciados de forte maneira por fenômenos atmosféricos de grande escala, mesoescala, bem como interações da variação da velocidade de escoamento (Corrêa </a:t>
            </a:r>
            <a:r>
              <a:rPr i="1" lang="pt-BR" sz="1500"/>
              <a:t>et al.,</a:t>
            </a:r>
            <a:r>
              <a:rPr lang="pt-BR" sz="1500"/>
              <a:t>2002);</a:t>
            </a:r>
            <a:endParaRPr sz="15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90500" lvl="0" marL="269999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   A importância da turbulência atmosférica para a velocidade de turbulência, por dominar a </a:t>
            </a:r>
            <a:r>
              <a:rPr lang="pt-BR" sz="1500"/>
              <a:t>superfície</a:t>
            </a:r>
            <a:r>
              <a:rPr lang="pt-BR" sz="1500"/>
              <a:t>, afetando a própria velocidade do vento (Moraes e Acevedo, 2004);</a:t>
            </a:r>
            <a:endParaRPr sz="15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85250" lvl="0" marL="269999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   O estado de Minas Gerais, possui predominância de cobertura vegetal, em distanciamento do Oceano, sua temperatura diurna do ar, tende a variar sua amplitude térmica. As variações de altitudes no estado gera mudanças de direção do vento, tal qual a intensidades em diferentes alturas) Minas Gerais, 2025);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90500" lvl="0" marL="269999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   O </a:t>
            </a:r>
            <a:r>
              <a:rPr lang="pt-BR" sz="1500" u="sng"/>
              <a:t>objetivo</a:t>
            </a:r>
            <a:r>
              <a:rPr lang="pt-BR" sz="1500"/>
              <a:t> deste trabalho é analisar variedades escalas de altura na CLA, utilizando interpolação </a:t>
            </a:r>
            <a:r>
              <a:rPr lang="pt-BR" sz="1500"/>
              <a:t>logarítmica</a:t>
            </a:r>
            <a:r>
              <a:rPr lang="pt-BR" sz="1500"/>
              <a:t> em 120 m, 150 m e 180 m, com relação a anos de La Niña e El Niño em distintos períodos a fim de compreender o comportamento sobre a velocidade do vento.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2. METODOLOGIA</a:t>
            </a:r>
            <a:endParaRPr/>
          </a:p>
        </p:txBody>
      </p:sp>
      <p:pic>
        <p:nvPicPr>
          <p:cNvPr id="43" name="Google Shape;43;p7" title="areaminas10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350" y="1127362"/>
            <a:ext cx="5272648" cy="460326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/>
          <p:nvPr/>
        </p:nvSpPr>
        <p:spPr>
          <a:xfrm>
            <a:off x="116450" y="1284250"/>
            <a:ext cx="6647700" cy="53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   Utilizando dados de </a:t>
            </a:r>
            <a:r>
              <a:rPr lang="pt-BR"/>
              <a:t>reanálise</a:t>
            </a:r>
            <a:r>
              <a:rPr lang="pt-BR"/>
              <a:t> do ECMWF (ERA-5), em uma grade de 0,25° x 0,25°, selecionando </a:t>
            </a:r>
            <a:r>
              <a:rPr lang="pt-BR"/>
              <a:t>variáveis</a:t>
            </a:r>
            <a:r>
              <a:rPr lang="pt-BR"/>
              <a:t> do vento em 10m e 100m.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   </a:t>
            </a:r>
            <a:r>
              <a:rPr lang="pt-BR"/>
              <a:t>Realizando a m</a:t>
            </a:r>
            <a:r>
              <a:rPr lang="pt-BR"/>
              <a:t>édia para os dados, com uso do software CDO, sobre valores com variações de turbulência.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Calculado por meio da </a:t>
            </a:r>
            <a:r>
              <a:rPr lang="pt-BR"/>
              <a:t>fórmula</a:t>
            </a:r>
            <a:r>
              <a:rPr lang="pt-BR"/>
              <a:t>, proposta por Archer e Jacobson, 2003: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𝑉_𝑧 = 𝑉_10 + (𝑙𝑛(𝑧 / 10) / 𝑙𝑛(100 / 10)) · (𝑉_100 − 𝑉_10)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66700" lvl="0" marL="360001" rtl="0" algn="just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 sz="1200"/>
              <a:t>Considerando o fluxo praticamente constante </a:t>
            </a:r>
            <a:r>
              <a:rPr lang="pt-BR" sz="1200"/>
              <a:t>próximo</a:t>
            </a:r>
            <a:r>
              <a:rPr lang="pt-BR" sz="1200"/>
              <a:t> a camada </a:t>
            </a:r>
            <a:r>
              <a:rPr lang="pt-BR" sz="1200"/>
              <a:t>da</a:t>
            </a:r>
            <a:r>
              <a:rPr lang="pt-BR" sz="1200"/>
              <a:t> </a:t>
            </a:r>
            <a:r>
              <a:rPr lang="pt-BR" sz="1200"/>
              <a:t>superfície, valores em 10m foram utilizados.</a:t>
            </a:r>
            <a:endParaRPr sz="1200"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   Seguinte, ocorre a interpolação para as alturas 120m, 150m e 180m. Obteve-se os dados da anomalia NINO 3.4, para a realização da comparação;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A climatologia inserida se deu pelo próprio dado bruto de 1993 a 2023, em 100m;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Os dois períodos escolhidos foram: La Niña (2010) e El Niño (2023);</a:t>
            </a:r>
            <a:endParaRPr/>
          </a:p>
          <a:p>
            <a:pPr indent="-19050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73050" lvl="0" marL="360001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   A área de estudo selecionada para o presente estudo foi Minas Gerais, situada a Sudeste do Brasil. </a:t>
            </a:r>
            <a:endParaRPr/>
          </a:p>
        </p:txBody>
      </p:sp>
      <p:sp>
        <p:nvSpPr>
          <p:cNvPr id="45" name="Google Shape;45;p7"/>
          <p:cNvSpPr txBox="1"/>
          <p:nvPr/>
        </p:nvSpPr>
        <p:spPr>
          <a:xfrm>
            <a:off x="7863550" y="960250"/>
            <a:ext cx="4221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Figura 1 - </a:t>
            </a:r>
            <a:r>
              <a:rPr lang="pt-BR" sz="1100"/>
              <a:t>Área de estudo, estado de Minas Gerais (MG)</a:t>
            </a:r>
            <a:endParaRPr sz="1100"/>
          </a:p>
        </p:txBody>
      </p:sp>
      <p:sp>
        <p:nvSpPr>
          <p:cNvPr id="46" name="Google Shape;46;p7"/>
          <p:cNvSpPr txBox="1"/>
          <p:nvPr/>
        </p:nvSpPr>
        <p:spPr>
          <a:xfrm>
            <a:off x="7695125" y="6234425"/>
            <a:ext cx="25071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</a:rPr>
              <a:t>Latitude de 14°13’58” N (-14°) a 22°54’00” S (-22°) e longitude de 39°51’32” L (-39°) a 51°02’35” O (-51°).</a:t>
            </a:r>
            <a:endParaRPr sz="800"/>
          </a:p>
        </p:txBody>
      </p:sp>
      <p:sp>
        <p:nvSpPr>
          <p:cNvPr id="47" name="Google Shape;47;p7"/>
          <p:cNvSpPr txBox="1"/>
          <p:nvPr/>
        </p:nvSpPr>
        <p:spPr>
          <a:xfrm>
            <a:off x="8275450" y="57306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</a:rPr>
              <a:t>Fonte: Elaborado pelos próprios autores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3. RESULTADOS</a:t>
            </a:r>
            <a:endParaRPr/>
          </a:p>
        </p:txBody>
      </p:sp>
      <p:pic>
        <p:nvPicPr>
          <p:cNvPr id="53" name="Google Shape;5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3" y="1785076"/>
            <a:ext cx="6076626" cy="35456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/>
        </p:nvSpPr>
        <p:spPr>
          <a:xfrm>
            <a:off x="132625" y="1203375"/>
            <a:ext cx="5742000" cy="5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Ano de 2010 (La Niña/ Forte):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184150" lvl="0" marL="360001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   Abril apresentou a maior temperatura de anomalia (0,62°C) e outubro a menor (-1,41°C), junto a climatologia que se </a:t>
            </a:r>
            <a:r>
              <a:rPr lang="pt-BR">
                <a:solidFill>
                  <a:schemeClr val="dk1"/>
                </a:solidFill>
              </a:rPr>
              <a:t>assemelhou aos valores de extrapolação em abril, outubro acima;</a:t>
            </a:r>
            <a:endParaRPr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78901" lvl="0" marL="360001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   Nos meses de janeiro e fevereiro sofreram uma queda em torno de 3m/s para 2m/s e relacionado com climatologia, as médias se mostraram mais 1m/s abaixo;</a:t>
            </a:r>
            <a:endParaRPr>
              <a:solidFill>
                <a:schemeClr val="dk1"/>
              </a:solidFill>
            </a:endParaRPr>
          </a:p>
          <a:p>
            <a:pPr indent="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78901" lvl="0" marL="360001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   Maio demonstrou o decrescimento de velocidade, junto a temperatura com diferença de 0,49°C, sobre o mês anterior e velocidades cerca de 0,62°C;</a:t>
            </a:r>
            <a:endParaRPr>
              <a:solidFill>
                <a:schemeClr val="dk1"/>
              </a:solidFill>
            </a:endParaRPr>
          </a:p>
          <a:p>
            <a:pPr indent="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78901" lvl="0" marL="360001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   Em relação ao mês de junho mostrou as maiores velocidades (180m, 5,39m/s), a climatologia em 4,2 m/s, contudo a anomalia em valores positivos (0,18°C) (classificado como um mês de El Niño por ser acima de zero (Philander,1985));</a:t>
            </a:r>
            <a:endParaRPr>
              <a:solidFill>
                <a:schemeClr val="dk1"/>
              </a:solidFill>
            </a:endParaRPr>
          </a:p>
          <a:p>
            <a:pPr indent="0" lvl="0" marL="360001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178901" lvl="0" marL="360001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   Julho marcou o mês com média mais baixo em relação à climatologia. As maiores similaridades com a climatologia foram agosto e novembro. </a:t>
            </a:r>
            <a:endParaRPr>
              <a:solidFill>
                <a:schemeClr val="dk1"/>
              </a:solidFill>
            </a:endParaRPr>
          </a:p>
          <a:p>
            <a:pPr indent="0" lvl="0" marL="36000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6096000" y="1283050"/>
            <a:ext cx="5942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Figura 2 - Dinâmica do vento na CLP em Minas Gerais: uma abordagem microclimática com ERA 5 e ENSO. (a)</a:t>
            </a:r>
            <a:endParaRPr sz="800"/>
          </a:p>
        </p:txBody>
      </p:sp>
      <p:sp>
        <p:nvSpPr>
          <p:cNvPr id="56" name="Google Shape;56;p8"/>
          <p:cNvSpPr txBox="1"/>
          <p:nvPr/>
        </p:nvSpPr>
        <p:spPr>
          <a:xfrm>
            <a:off x="7716525" y="5330775"/>
            <a:ext cx="2502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Fonte: Elaborado pelos pr</a:t>
            </a:r>
            <a:r>
              <a:rPr lang="pt-BR" sz="1000"/>
              <a:t>óprios autores.</a:t>
            </a:r>
            <a:endParaRPr sz="1000"/>
          </a:p>
        </p:txBody>
      </p:sp>
      <p:sp>
        <p:nvSpPr>
          <p:cNvPr id="57" name="Google Shape;57;p8"/>
          <p:cNvSpPr txBox="1"/>
          <p:nvPr/>
        </p:nvSpPr>
        <p:spPr>
          <a:xfrm>
            <a:off x="6377950" y="6134100"/>
            <a:ext cx="3898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Observação: </a:t>
            </a:r>
            <a:r>
              <a:rPr lang="pt-BR" sz="900">
                <a:solidFill>
                  <a:schemeClr val="dk1"/>
                </a:solidFill>
              </a:rPr>
              <a:t>A maior anomalia ENOS em correção a temperatura de 0,59°C para 0,62°C.</a:t>
            </a: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A anomalia diminuiu de abril a maio 0,49°C, demonstrando que a escrita “</a:t>
            </a:r>
            <a:r>
              <a:rPr lang="pt-BR" sz="900"/>
              <a:t>cerca</a:t>
            </a:r>
            <a:r>
              <a:rPr lang="pt-BR" sz="900"/>
              <a:t> de -0,11 a -0,26°C”, </a:t>
            </a:r>
            <a:r>
              <a:rPr lang="pt-BR" sz="900"/>
              <a:t>está</a:t>
            </a:r>
            <a:r>
              <a:rPr lang="pt-BR" sz="900"/>
              <a:t> </a:t>
            </a:r>
            <a:r>
              <a:rPr lang="pt-BR" sz="900"/>
              <a:t>equivocado</a:t>
            </a:r>
            <a:r>
              <a:rPr lang="pt-BR" sz="900"/>
              <a:t>.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187749" y="136525"/>
            <a:ext cx="1189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3. RESULTADOS</a:t>
            </a:r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3">
            <a:alphaModFix/>
          </a:blip>
          <a:srcRect b="-2270" l="0" r="557" t="0"/>
          <a:stretch/>
        </p:blipFill>
        <p:spPr>
          <a:xfrm>
            <a:off x="6095997" y="1819176"/>
            <a:ext cx="6076800" cy="354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/>
        </p:nvSpPr>
        <p:spPr>
          <a:xfrm>
            <a:off x="187750" y="1332775"/>
            <a:ext cx="5880600" cy="55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 Ano de 2023 (El Niño/ Forte):</a:t>
            </a:r>
            <a:endParaRPr b="1"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ENOS em oscilação de 3,54°C (-0,24°C a 3,30°C), </a:t>
            </a:r>
            <a:r>
              <a:rPr lang="pt-BR">
                <a:solidFill>
                  <a:schemeClr val="dk1"/>
                </a:solidFill>
              </a:rPr>
              <a:t>em 2010, uma diferença de 2,03°C</a:t>
            </a:r>
            <a:r>
              <a:rPr lang="pt-BR"/>
              <a:t>;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   </a:t>
            </a:r>
            <a:r>
              <a:rPr lang="pt-BR">
                <a:solidFill>
                  <a:schemeClr val="dk1"/>
                </a:solidFill>
              </a:rPr>
              <a:t>Nos meses de janeiro e fevereiro houve aumento de anomalia (-0,24 para 0,71°C), a climatologia por sua vez diminuiu em fevereiro;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Abril e maio apresentaram semelhança nas velocidades médias, contudo a anomalia crescente alta;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Nos meses de julho e agosto houve grande semelhança de velocidades junto a climatologia, onde nas velocidades de 120m mostrou-se menor ou aproximado, bem como a fevereiro e outubro;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Suas temperaturas estiverem altas na maioria dos meses, contudo agosto registrou a maior do ano 3,30°C (julho 3,21°C);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Setembro registrou as últimas velocidades mais altas, para em seguida uma diminuição significativa, novembro sendo o mês com menores valores;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No mês de dezembro é notável um certo aumento, cerca de 0,5m/s em relação a novembro (120m), a anomalia mostrou uma diminuição, marcando 1,41°C e a climatologia acima da média do mês.</a:t>
            </a:r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6311300" y="1332775"/>
            <a:ext cx="58806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dk1"/>
                </a:solidFill>
              </a:rPr>
              <a:t>Figura 2 - Dinâmica do vento na CLP em Minas Gerais: uma abordagem microclimática com ERA 5 e ENSO. (b)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7531100" y="52832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</a:rPr>
              <a:t>Fonte: Elaborado pelos próprios autores.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187749" y="136525"/>
            <a:ext cx="11897400" cy="75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4. DISCUSS</a:t>
            </a:r>
            <a:r>
              <a:rPr lang="pt-BR"/>
              <a:t>ÃO</a:t>
            </a:r>
            <a:endParaRPr/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75" y="1482775"/>
            <a:ext cx="5661650" cy="33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 rotWithShape="1">
          <a:blip r:embed="rId4">
            <a:alphaModFix/>
          </a:blip>
          <a:srcRect b="-2270" l="0" r="557" t="0"/>
          <a:stretch/>
        </p:blipFill>
        <p:spPr>
          <a:xfrm>
            <a:off x="5986525" y="1458838"/>
            <a:ext cx="5743350" cy="33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1673100" y="1058650"/>
            <a:ext cx="884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Figura 4 - Dinâmica do vento na CLP em Minas Gerais: uma abordagem microclimática com ERA 5 e ENSO.</a:t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>
            <a:off x="4596000" y="4688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</a:rPr>
              <a:t>Fonte: Elaborado pelos próprios autores.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1700" y="5263200"/>
            <a:ext cx="9284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360001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   Archer e Jacobson, 2003, aplicaram para o </a:t>
            </a:r>
            <a:r>
              <a:rPr lang="pt-BR"/>
              <a:t>Estados</a:t>
            </a:r>
            <a:r>
              <a:rPr lang="pt-BR"/>
              <a:t> Unidos da Am</a:t>
            </a:r>
            <a:r>
              <a:rPr lang="pt-BR"/>
              <a:t>érica no ano de 2000, em medições de 80m, com dados em 10m, obtendo resultados como, velocidades médias acima de 6,9 m/s (sendo os maiores valores). Aplicado ao Brasil, para Minas Gerais, conteve-se a </a:t>
            </a:r>
            <a:r>
              <a:rPr lang="pt-BR"/>
              <a:t>múltiplas</a:t>
            </a:r>
            <a:r>
              <a:rPr lang="pt-BR"/>
              <a:t> alturas em </a:t>
            </a:r>
            <a:r>
              <a:rPr lang="pt-BR"/>
              <a:t>análise</a:t>
            </a:r>
            <a:r>
              <a:rPr lang="pt-BR"/>
              <a:t> da CLA/CLP (120 m, 150 m, 180 m). Os mesmo </a:t>
            </a:r>
            <a:r>
              <a:rPr lang="pt-BR"/>
              <a:t>possuem </a:t>
            </a:r>
            <a:r>
              <a:rPr lang="pt-BR"/>
              <a:t>pesquisas semelhantes, diferenciando o local de estudo. Enquanto Archer e Jacobson, focou em dados de 10 m para 80 m, este estudo usou dados em 10 m e 100 m, o que amplia a compreensão sobre a velocidade do vento.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5</a:t>
            </a:r>
            <a:r>
              <a:rPr lang="pt-BR"/>
              <a:t>.</a:t>
            </a:r>
            <a:r>
              <a:rPr lang="pt-BR"/>
              <a:t> CONCLUSÕES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407600" y="1381300"/>
            <a:ext cx="11079600" cy="4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/>
              <a:t>O</a:t>
            </a:r>
            <a:r>
              <a:rPr b="1" lang="pt-BR" sz="1600" u="sng"/>
              <a:t> presente estudo buscou compreender:</a:t>
            </a:r>
            <a:endParaRPr b="1" sz="1600" u="sng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Considerando períodos influenciados por eventos climáticos globais como El Niño e La Niña (2023 e 2010);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O comportamento da velocidade do vento em diferentes escalas de altura (120 m, 150 m, 180 m) dentro da CLA, mostrou:</a:t>
            </a:r>
            <a:endParaRPr sz="1500"/>
          </a:p>
          <a:p>
            <a:pPr indent="-323850" lvl="2" marL="1080000" rtl="0" algn="just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pt-BR" sz="1500"/>
              <a:t>Variações observadas nos anos de </a:t>
            </a:r>
            <a:r>
              <a:rPr lang="pt-BR" sz="1500"/>
              <a:t>análises</a:t>
            </a:r>
            <a:r>
              <a:rPr lang="pt-BR" sz="1500"/>
              <a:t> se relacionam com os fenômenos atmosféricos de grande escala;</a:t>
            </a:r>
            <a:endParaRPr sz="1500"/>
          </a:p>
          <a:p>
            <a:pPr indent="-323850" lvl="2" marL="1080000" rtl="0" algn="just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pt-BR" sz="1500"/>
              <a:t>Junto à fenômenos locais, como relevo.</a:t>
            </a:r>
            <a:endParaRPr sz="15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Conclui-se que: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O uso da </a:t>
            </a:r>
            <a:r>
              <a:rPr lang="pt-BR" sz="1500"/>
              <a:t>interpolação</a:t>
            </a:r>
            <a:r>
              <a:rPr lang="pt-BR" sz="1500"/>
              <a:t> </a:t>
            </a:r>
            <a:r>
              <a:rPr lang="pt-BR" sz="1500"/>
              <a:t>logarítmica diante dos dados de reanálise demonstrou eficiência na estimativa de velocidade:</a:t>
            </a:r>
            <a:endParaRPr sz="1500"/>
          </a:p>
          <a:p>
            <a:pPr indent="-323850" lvl="2" marL="1080000" rtl="0" algn="just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pt-BR" sz="1500"/>
              <a:t>Diferentes níveis;</a:t>
            </a:r>
            <a:endParaRPr sz="1500"/>
          </a:p>
          <a:p>
            <a:pPr indent="-323850" lvl="2" marL="1080000" rtl="0" algn="just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pt-BR" sz="1500"/>
              <a:t>Identificando padrões e diferenças dos anos analisados;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Contribuindo para o entendimento da dinâmica dos ventos em Minas Gerais e pode servir de base para estudos futuros que abordem aplicações meteorológicas, energéticas e ambientais.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187749" y="136525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6. REFERÊNCIAS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507750" y="1381300"/>
            <a:ext cx="111765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ARCHER, Cristina L.; JACOBSON, Mark Z. Spatial and temporal distributions of US winds and wind power at 80 m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derived from measurements. Journal of Geophysical Research: Atmospheres, v. 108, n. D9, 2003.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CORRÊA, Cleber S.; CLARKE, Robin Thomas; SILVEIRA, André Luiz Lopes da. Análise espectral do decréscimo da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velocidade do vento acima do jato de nível baixo em situações de El Niño–Oscilação Sul (ENSO) sobre Porto Alegre,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Brasil. Revista Brasileira de Meteorologia, Brasília, DF: Sociedade Brasileira de Meteorologia, v. 17, n. 2, p. 153-163,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2002.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DOS SANTOS, José Guilherme Martins. Introdução ao NCAR Command Language (NCL). CEP, v. 12, p. 010, [s.d.].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HERSBACH, H. et al. Dados horários ERA5 em níveis únicos de 1940 até o presente. Copernicus Climate Change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Service (C3S) Climate Data Store (CDS), 2023. DOI: 10.24381/cds.adbb2d47. Acesso em: 25 jul. 2025.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MINAS GERAIS (Estado). Geografia. Belo Horizonte: Governo de Minas Gerais, [2025]. Disponível em: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https://www.mg.gov.br/pagina/geografia. Acesso em: 24 jul. 2025.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MORAES, O. L. L.; ACEVEDO, O. C. Camada Limite Planetária – Problemas com medições e interpretação de dados.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Turbulência, Associação Brasileira de Engenharia e Ciências Mecânicas, v. 4, p. 109-136, 2004.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NOAA. Dados horários ERA5 em níveis únicos de 1940 até o presente. In: ______. Climate Change Service (C3S)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Climate Data Store (CDS), [s.l.], 2025. Disponível em: https://psl.noaa.gov/data/correlation/oni.data. Acesso em: 25 jul.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2025.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PHILANDER, S. G. El Niño and La Niña. Journal of the Atmospheric Sciences, v. 42, n. 23, p. 2652-2662, 1985.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147292" y="2829906"/>
            <a:ext cx="11897413" cy="759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pt-BR"/>
              <a:t>OBRIGADO PELA ATENÇÃO!</a:t>
            </a:r>
            <a:endParaRPr/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320511" y="4242603"/>
            <a:ext cx="11538409" cy="13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Contato: vitoria.regia.016@ufrn.edu.br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850" y="4907325"/>
            <a:ext cx="1718650" cy="8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 b="20558" l="11541" r="11778" t="16030"/>
          <a:stretch/>
        </p:blipFill>
        <p:spPr>
          <a:xfrm>
            <a:off x="6731850" y="4953925"/>
            <a:ext cx="1718650" cy="7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924" y="4733975"/>
            <a:ext cx="2727649" cy="11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title="WhatsApp Image 2025-07-09 at 20.50.55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71627" y="4565477"/>
            <a:ext cx="1319225" cy="13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00" y="2023500"/>
            <a:ext cx="563880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1163" y="2023500"/>
            <a:ext cx="2904575" cy="33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88400" y="2023500"/>
            <a:ext cx="3012450" cy="21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