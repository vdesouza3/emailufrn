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Sorts Mill Goudy"/>
      <p:regular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22" Type="http://schemas.openxmlformats.org/officeDocument/2006/relationships/font" Target="fonts/SortsMillGoudy-italic.fntdata"/><Relationship Id="rId10" Type="http://schemas.openxmlformats.org/officeDocument/2006/relationships/slide" Target="slides/slide5.xml"/><Relationship Id="rId21" Type="http://schemas.openxmlformats.org/officeDocument/2006/relationships/font" Target="fonts/SortsMillGoudy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a6e578e90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a6e578e90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a6e7ed798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a6e7ed798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a6e578e90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a6e578e90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a6e578e90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a6e578e90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a6e578e90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a6e578e90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a6e578e90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a6e578e90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a6e578e90d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a6e578e90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a6e578e90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a6e578e90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ENCONTRO INTEGRADO DOS PROGRAMAS DE ENSINO – EIPE</a:t>
            </a:r>
            <a:endParaRPr b="0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</a:t>
            </a:r>
            <a:endParaRPr b="0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 DO ENSINO DE CÁLCULO E FÍSICA PARA AS CIÊNCIAS ATMOSFÉRICAS: RETORNANDO AO PRESENCIAL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29000"/>
            <a:ext cx="8520600" cy="17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latin typeface="Times New Roman"/>
                <a:ea typeface="Times New Roman"/>
                <a:cs typeface="Times New Roman"/>
                <a:sym typeface="Times New Roman"/>
              </a:rPr>
              <a:t>Pedro Rodrigues Mutti (Orientador)</a:t>
            </a:r>
            <a:endParaRPr b="0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latin typeface="Times New Roman"/>
                <a:ea typeface="Times New Roman"/>
                <a:cs typeface="Times New Roman"/>
                <a:sym typeface="Times New Roman"/>
              </a:rPr>
              <a:t>Monitores: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latin typeface="Times New Roman"/>
                <a:ea typeface="Times New Roman"/>
                <a:cs typeface="Times New Roman"/>
                <a:sym typeface="Times New Roman"/>
              </a:rPr>
              <a:t>José Ferreira de Souza Neto</a:t>
            </a:r>
            <a:endParaRPr b="0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latin typeface="Times New Roman"/>
                <a:ea typeface="Times New Roman"/>
                <a:cs typeface="Times New Roman"/>
                <a:sym typeface="Times New Roman"/>
              </a:rPr>
              <a:t>Emily Trindade de Oliveira</a:t>
            </a:r>
            <a:endParaRPr b="0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latin typeface="Times New Roman"/>
                <a:ea typeface="Times New Roman"/>
                <a:cs typeface="Times New Roman"/>
                <a:sym typeface="Times New Roman"/>
              </a:rPr>
              <a:t>Vitória Régia Silva de Souza</a:t>
            </a:r>
            <a:endParaRPr b="0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Ícone&#10;&#10;Descrição gerada automaticamente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88" y="36025"/>
            <a:ext cx="1738313" cy="1738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699" y="85737"/>
            <a:ext cx="1738313" cy="173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❖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de Ciências Exatas e da Terra – </a:t>
            </a:r>
            <a:r>
              <a:rPr b="1"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 de Meteorologia (DCAC – Departamento de Ciências Atmosféricas e Climáticas):</a:t>
            </a:r>
            <a:endParaRPr b="1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Alta retenção discente no ciclo básico;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Dificuldades de base;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Complexidade das disciplinas básicas;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Ingresso tardio;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Desestímulo dos alunos ingressantes.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❖"/>
            </a:pPr>
            <a:r>
              <a:rPr b="1"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Monitoria da Meteorologia (Renovação) - Descomplicando o Cálculo e a Física Aplicados Às Ciências Atmosféricas e Climáticas</a:t>
            </a:r>
            <a:endParaRPr b="1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Complementar as monitorias </a:t>
            </a: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oferecidas</a:t>
            </a: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pelo CCET</a:t>
            </a: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Não-dissociação dos ensinos de Cálculo e Física (ADMIRAL, 2016, FLORES; LIMA; FONTELLA, 2017);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Times New Roman"/>
              <a:buChar char="➢"/>
            </a:pPr>
            <a:r>
              <a:rPr lang="pt-BR" sz="19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Monitores do próprio curso de meteorologia com maior conhecimento sobre aplicações e sobre o próprio curso 🡪 estimular os ingressantes.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OBJETIVO </a:t>
            </a: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DESTE</a:t>
            </a: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 RELATO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❖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Apresentar o desempenho dos alunos que frequentaram a monitoria em comparação com o restante da turma e a autoavaliação dos monitores bolsistas neste período de retorno às aulas presenciais.</a:t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Char char="➢"/>
            </a:pPr>
            <a:r>
              <a:rPr lang="pt-BR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Disciplinas de Física I e Cálculo I aplicados às ciências atmosféricas e climáticas.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RESULTADOS - DESEMPENHO DOS ALUNOS</a:t>
            </a:r>
            <a:endParaRPr sz="2400"/>
          </a:p>
        </p:txBody>
      </p:sp>
      <p:sp>
        <p:nvSpPr>
          <p:cNvPr id="83" name="Google Shape;83;p17"/>
          <p:cNvSpPr txBox="1"/>
          <p:nvPr/>
        </p:nvSpPr>
        <p:spPr>
          <a:xfrm>
            <a:off x="2071700" y="3534725"/>
            <a:ext cx="4633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latin typeface="Times New Roman"/>
                <a:ea typeface="Times New Roman"/>
                <a:cs typeface="Times New Roman"/>
                <a:sym typeface="Times New Roman"/>
              </a:rPr>
              <a:t>Tabela 1. Resumo do desempenho geral dos alunos de Cálculo I e Física I em 2021 (ensino remoto) e em 2022 (retorno ao presencial). O número entre parêntese na coluna REP indica os alunos que foram reprovados, mas que não chegaram a concluir a disciplina (abandonaram antes da terceira avaliação).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700" y="991100"/>
            <a:ext cx="3764565" cy="2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58150" y="73825"/>
            <a:ext cx="85206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RESULTADOS - AUTOAVALIAÇÃO DOS MONITORES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081800"/>
            <a:ext cx="8520600" cy="3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❖"/>
            </a:pPr>
            <a:r>
              <a:rPr lang="pt-BR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i="1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primeiro assunto, que é de limites, gerou bastante dúvida e dificuldade de compreensão, muitas vezes tive que agir tentando motivar e aconselhar o pessoal a não desistir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”; “</a:t>
            </a:r>
            <a:r>
              <a:rPr i="1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Percebi também que os alunos que conseguiam desenvolver ou compreender algo do assunto comigo, passaram a ir frequentemente à monitoria, e, na maioria dos casos, houve uma melhora significativa no rendimento.”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“</a:t>
            </a:r>
            <a:r>
              <a:rPr i="1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percebi outro ponto importante: quase nenhum dos alunos realmente queria cursar Meteorologia, (...) parte deles mal sabia o que era realmente o curso ou ligava as Ciências Atmosféricas às Ciências Humanas, no lugar das exatas(...), alguns alunos tinham muito pouca motivação com a área, a ponto de nem pesquisar sobre o que se tratava ou tentar entender a grade curricular antes de entrar/se matricular no curso.” 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(MB1).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RESULTADOS - AUTOAVALIAÇÃO DOS MONITORES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❖"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</a:t>
            </a:r>
            <a:r>
              <a:rPr i="1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geral, algumas dificuldades apresentadas pelos alunos consistiam na matemática básica, e nas matérias estudadas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”; “</a:t>
            </a:r>
            <a:r>
              <a:rPr i="1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dos alunos que mais me procurou na sala, tinha muita dificuldade e procurava ajuda com os exercícios de cálculo porque queria entender a matéria mesmo sabendo que já não havia mais condições de passar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”; “</a:t>
            </a:r>
            <a:r>
              <a:rPr i="1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recurso facilitador do retorno do ensino presencial, é que na sala de monitoria tinha quadros e canetas que davam para escrever nitidamente. Assim como era possível, explicar pelo caderno e acompanhar o desenvolvimento dos alunos e se estavam entendendo. Como já fui monitora em período remoto, observar isso de perto foi algo muito positivo com relação ao ensino.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(MB2).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853800" y="153475"/>
            <a:ext cx="30261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CONCLUSÃO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704375"/>
            <a:ext cx="85206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❖"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 segundo ano do Projeto de Monitoria da Meteorologia foi evidenciado alguns aspectos importantes: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impacto positivo da monitoria no desempenho dos alunos que a buscam.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procura relativamente baixa (menos de 50%), apesar da divulgação constante, e dos monitores estarem disponíveis não apenas presencialmente, mas também por meio das redes sociais.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o próximo ano, espera-se que com esses resultados, alguns pontos sejam esclarecidos quanto a estratégias de motivação para buscar a monitoria e formas de diminuir o número de alunos que abandonam as disciplinas básicas antes mesmo do fim do período.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Times New Roman"/>
              <a:buChar char="➢"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disso, com a continuidade do projeto irá permitir avaliar o impacto da monitoria também nas disciplinas de Cálculo II e Física II.</a:t>
            </a:r>
            <a:r>
              <a:rPr lang="pt-BR" sz="14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MUITO </a:t>
            </a:r>
            <a:r>
              <a:rPr lang="pt-BR" sz="2400">
                <a:latin typeface="Times New Roman"/>
                <a:ea typeface="Times New Roman"/>
                <a:cs typeface="Times New Roman"/>
                <a:sym typeface="Times New Roman"/>
              </a:rPr>
              <a:t>OBRIGADO!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